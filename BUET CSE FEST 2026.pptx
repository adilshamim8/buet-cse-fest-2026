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eorgia Pro Condensed" charset="1" panose="02040506050405020303"/>
      <p:regular r:id="rId17"/>
    </p:embeddedFont>
    <p:embeddedFont>
      <p:font typeface="B612 Bold" charset="1" panose="020B0606050000020004"/>
      <p:regular r:id="rId18"/>
    </p:embeddedFont>
    <p:embeddedFont>
      <p:font typeface="Kelvinch" charset="1" panose="02050503040506020203"/>
      <p:regular r:id="rId19"/>
    </p:embeddedFont>
    <p:embeddedFont>
      <p:font typeface="Antic" charset="1" panose="00000000000000000000"/>
      <p:regular r:id="rId20"/>
    </p:embeddedFont>
    <p:embeddedFont>
      <p:font typeface="Antic Bold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7658" y="1494914"/>
            <a:ext cx="1437268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B3B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DL</a:t>
            </a:r>
            <a:r>
              <a:rPr lang="en-US" sz="3999">
                <a:solidFill>
                  <a:srgbClr val="3B3B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Sprint 4.0 at BUET CSE Fest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9756" y="3473508"/>
            <a:ext cx="1678848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Diarizz &amp; Bengali ASR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1747" y="5160706"/>
            <a:ext cx="584933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B3B1C">
                    <a:alpha val="69804"/>
                  </a:srgbClr>
                </a:solidFill>
                <a:latin typeface="Kelvinch"/>
                <a:ea typeface="Kelvinch"/>
                <a:cs typeface="Kelvinch"/>
                <a:sym typeface="Kelvinch"/>
              </a:rPr>
              <a:t>Team EnviSage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169660" y="2589860"/>
            <a:ext cx="16089640" cy="0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239624" y="6348156"/>
            <a:ext cx="105816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B3B1C">
                    <a:alpha val="67843"/>
                  </a:srgbClr>
                </a:solidFill>
                <a:latin typeface="Antic"/>
                <a:ea typeface="Antic"/>
                <a:cs typeface="Antic"/>
                <a:sym typeface="Antic"/>
              </a:rPr>
              <a:t>Nabil Shad Rahman,</a:t>
            </a:r>
            <a:r>
              <a:rPr lang="en-US" sz="3000">
                <a:solidFill>
                  <a:srgbClr val="3B3B1C">
                    <a:alpha val="67843"/>
                  </a:srgbClr>
                </a:solidFill>
                <a:latin typeface="Antic Bold"/>
                <a:ea typeface="Antic Bold"/>
                <a:cs typeface="Antic Bold"/>
                <a:sym typeface="Antic Bold"/>
              </a:rPr>
              <a:t> </a:t>
            </a:r>
            <a:r>
              <a:rPr lang="en-US" sz="3000">
                <a:solidFill>
                  <a:srgbClr val="3B3B1C">
                    <a:alpha val="67843"/>
                  </a:srgbClr>
                </a:solidFill>
                <a:latin typeface="Antic"/>
                <a:ea typeface="Antic"/>
                <a:cs typeface="Antic"/>
                <a:sym typeface="Antic"/>
              </a:rPr>
              <a:t>Shamim Hasan, Sadia Afrin Anika, Sojib Roy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801" y="2548499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530134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3925" y="9601200"/>
            <a:ext cx="10972800" cy="402336"/>
            <a:chOff x="0" y="0"/>
            <a:chExt cx="14630400" cy="5364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36448"/>
            </a:xfrm>
            <a:custGeom>
              <a:avLst/>
              <a:gdLst/>
              <a:ahLst/>
              <a:cxnLst/>
              <a:rect r="r" b="b" t="t" l="l"/>
              <a:pathLst>
                <a:path h="53644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Background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485101" y="3053005"/>
            <a:ext cx="8111497" cy="6205295"/>
          </a:xfrm>
          <a:custGeom>
            <a:avLst/>
            <a:gdLst/>
            <a:ahLst/>
            <a:cxnLst/>
            <a:rect r="r" b="b" t="t" l="l"/>
            <a:pathLst>
              <a:path h="6205295" w="8111497">
                <a:moveTo>
                  <a:pt x="0" y="0"/>
                </a:moveTo>
                <a:lnTo>
                  <a:pt x="8111497" y="0"/>
                </a:lnTo>
                <a:lnTo>
                  <a:pt x="8111497" y="6205295"/>
                </a:lnTo>
                <a:lnTo>
                  <a:pt x="0" y="6205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4799" y="1183831"/>
            <a:ext cx="9660231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606" y="2956954"/>
            <a:ext cx="4125928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Existing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606" y="3797926"/>
            <a:ext cx="7901495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Whisper, Wav2Vec, MMS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Great performance on high resource languages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3606" y="5671326"/>
            <a:ext cx="4826719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What about Bangla?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606" y="6516203"/>
            <a:ext cx="7560394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 most spoken language, severely underrepresented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Only ~1500 hours of labelled data. English has 10,000+ 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Variety of dialects, language complexity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52332" y="2611006"/>
            <a:ext cx="9105972" cy="0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Bangla Diarizz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26999" y="0"/>
            <a:ext cx="6294276" cy="10318486"/>
          </a:xfrm>
          <a:custGeom>
            <a:avLst/>
            <a:gdLst/>
            <a:ahLst/>
            <a:cxnLst/>
            <a:rect r="r" b="b" t="t" l="l"/>
            <a:pathLst>
              <a:path h="10318486" w="6294276">
                <a:moveTo>
                  <a:pt x="0" y="0"/>
                </a:moveTo>
                <a:lnTo>
                  <a:pt x="6294276" y="0"/>
                </a:lnTo>
                <a:lnTo>
                  <a:pt x="6294276" y="10318486"/>
                </a:lnTo>
                <a:lnTo>
                  <a:pt x="0" y="10318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3606" y="3922473"/>
            <a:ext cx="877469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Modular architecture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Provides audio validation, sliding window, PLDA scoring internally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Built in optimized clustering - VBx, AHC, Spectral.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2332" y="122343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Diarizz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606" y="2987244"/>
            <a:ext cx="5392728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Pyannote Community -1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3606" y="6185841"/>
            <a:ext cx="4190681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Segmentation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606" y="7000011"/>
            <a:ext cx="8991648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Language Dependent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899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ine-tuned Pyannote Segmentation 3.0 on competition training data (gomiiie 3.0)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Swapped the default one with our model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74271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Bangla Diarizz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2332" y="139919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Diarizz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606" y="3191918"/>
            <a:ext cx="6246951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Embedding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606" y="4089273"/>
            <a:ext cx="640834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Replaced with WeSpeaker ResNet34-LM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Produces tighter, well separated clusters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606" y="6430518"/>
            <a:ext cx="6765419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Clustering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3606" y="7421210"/>
            <a:ext cx="820759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Switched to VBx, performed better than AHC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Better for multiple speakers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654054" y="0"/>
            <a:ext cx="6294276" cy="10318486"/>
          </a:xfrm>
          <a:custGeom>
            <a:avLst/>
            <a:gdLst/>
            <a:ahLst/>
            <a:cxnLst/>
            <a:rect r="r" b="b" t="t" l="l"/>
            <a:pathLst>
              <a:path h="10318486" w="6294276">
                <a:moveTo>
                  <a:pt x="0" y="0"/>
                </a:moveTo>
                <a:lnTo>
                  <a:pt x="6294276" y="0"/>
                </a:lnTo>
                <a:lnTo>
                  <a:pt x="6294276" y="10318486"/>
                </a:lnTo>
                <a:lnTo>
                  <a:pt x="0" y="10318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32338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Bangla Diarizz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8019737" y="2341373"/>
            <a:ext cx="0" cy="6469876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808900" y="2504355"/>
            <a:ext cx="8256178" cy="6753945"/>
          </a:xfrm>
          <a:custGeom>
            <a:avLst/>
            <a:gdLst/>
            <a:ahLst/>
            <a:cxnLst/>
            <a:rect r="r" b="b" t="t" l="l"/>
            <a:pathLst>
              <a:path h="6753945" w="8256178">
                <a:moveTo>
                  <a:pt x="0" y="0"/>
                </a:moveTo>
                <a:lnTo>
                  <a:pt x="8256178" y="0"/>
                </a:lnTo>
                <a:lnTo>
                  <a:pt x="8256178" y="6753945"/>
                </a:lnTo>
                <a:lnTo>
                  <a:pt x="0" y="6753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2332" y="979866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Diarizz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5549" y="3594342"/>
            <a:ext cx="5995965" cy="401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672" indent="-276836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Pyannote loads and validates audio from disk on every internal access</a:t>
            </a:r>
          </a:p>
          <a:p>
            <a:pPr algn="l" marL="553672" indent="-276836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Loading as preprocessed tensor cut inference time from 1 hr 22 mins to 35 mins</a:t>
            </a:r>
          </a:p>
          <a:p>
            <a:pPr algn="l" marL="553672" indent="-276836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Relabel speakers in order of first appearance</a:t>
            </a:r>
          </a:p>
          <a:p>
            <a:pPr algn="l" marL="553672" indent="-276836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Stitch same speaker gaps of &lt;= 2s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5549" y="2606590"/>
            <a:ext cx="4956098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Pre &amp; Post Processing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74271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Bangla ASR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73202" y="4049887"/>
            <a:ext cx="7141523" cy="5309158"/>
          </a:xfrm>
          <a:custGeom>
            <a:avLst/>
            <a:gdLst/>
            <a:ahLst/>
            <a:cxnLst/>
            <a:rect r="r" b="b" t="t" l="l"/>
            <a:pathLst>
              <a:path h="5309158" w="7141523">
                <a:moveTo>
                  <a:pt x="0" y="0"/>
                </a:moveTo>
                <a:lnTo>
                  <a:pt x="7141523" y="0"/>
                </a:lnTo>
                <a:lnTo>
                  <a:pt x="7141523" y="5309159"/>
                </a:lnTo>
                <a:lnTo>
                  <a:pt x="0" y="5309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2332" y="139919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ASR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606" y="4300357"/>
            <a:ext cx="8833841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Built on top of the starter notebook, which uses tugstugi Whisper-Medium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Changed chunk size to 20.1s from default 30, prevents word drops at boundaries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5s left, 3s right stride, better for whisper’s left to right decoding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Unicode Normalization, prevents WER due to multiple representations for the same character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Batch Size = 8, reduced inference time significantly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606" y="3255454"/>
            <a:ext cx="5392728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Approach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74271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Bangla ASR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54920" y="4934657"/>
            <a:ext cx="7018680" cy="3140349"/>
          </a:xfrm>
          <a:custGeom>
            <a:avLst/>
            <a:gdLst/>
            <a:ahLst/>
            <a:cxnLst/>
            <a:rect r="r" b="b" t="t" l="l"/>
            <a:pathLst>
              <a:path h="3140349" w="7018680">
                <a:moveTo>
                  <a:pt x="0" y="0"/>
                </a:moveTo>
                <a:lnTo>
                  <a:pt x="7018680" y="0"/>
                </a:lnTo>
                <a:lnTo>
                  <a:pt x="7018680" y="3140349"/>
                </a:lnTo>
                <a:lnTo>
                  <a:pt x="0" y="3140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2332" y="139919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Bangla ASR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606" y="4848932"/>
            <a:ext cx="8313534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Switched to greedy decoding(num_beams = 1)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Showed a moderate increase in accuracy (~36% WER)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Temperature = 0.0, sample = False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Becomes more deterministic, chooses the output with highest probability, reducing randomness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606" y="3523760"/>
            <a:ext cx="5392728" cy="6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3862">
                <a:solidFill>
                  <a:srgbClr val="3B3B1C"/>
                </a:solidFill>
                <a:latin typeface="Antic Bold"/>
                <a:ea typeface="Antic Bold"/>
                <a:cs typeface="Antic Bold"/>
                <a:sym typeface="Antic Bold"/>
              </a:rPr>
              <a:t>Decoding Changes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74271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Results and Benchmarks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50104" y="3142131"/>
            <a:ext cx="6526715" cy="4398697"/>
          </a:xfrm>
          <a:custGeom>
            <a:avLst/>
            <a:gdLst/>
            <a:ahLst/>
            <a:cxnLst/>
            <a:rect r="r" b="b" t="t" l="l"/>
            <a:pathLst>
              <a:path h="4398697" w="6526715">
                <a:moveTo>
                  <a:pt x="0" y="0"/>
                </a:moveTo>
                <a:lnTo>
                  <a:pt x="6526714" y="0"/>
                </a:lnTo>
                <a:lnTo>
                  <a:pt x="6526714" y="4398696"/>
                </a:lnTo>
                <a:lnTo>
                  <a:pt x="0" y="4398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03458" y="7417002"/>
            <a:ext cx="3426292" cy="2639753"/>
          </a:xfrm>
          <a:custGeom>
            <a:avLst/>
            <a:gdLst/>
            <a:ahLst/>
            <a:cxnLst/>
            <a:rect r="r" b="b" t="t" l="l"/>
            <a:pathLst>
              <a:path h="2639753" w="3426292">
                <a:moveTo>
                  <a:pt x="0" y="0"/>
                </a:moveTo>
                <a:lnTo>
                  <a:pt x="3426292" y="0"/>
                </a:lnTo>
                <a:lnTo>
                  <a:pt x="3426292" y="2639753"/>
                </a:lnTo>
                <a:lnTo>
                  <a:pt x="0" y="2639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0272" y="3142131"/>
            <a:ext cx="8973186" cy="3791171"/>
          </a:xfrm>
          <a:custGeom>
            <a:avLst/>
            <a:gdLst/>
            <a:ahLst/>
            <a:cxnLst/>
            <a:rect r="r" b="b" t="t" l="l"/>
            <a:pathLst>
              <a:path h="3791171" w="8973186">
                <a:moveTo>
                  <a:pt x="0" y="0"/>
                </a:moveTo>
                <a:lnTo>
                  <a:pt x="8973186" y="0"/>
                </a:lnTo>
                <a:lnTo>
                  <a:pt x="8973186" y="3791171"/>
                </a:lnTo>
                <a:lnTo>
                  <a:pt x="0" y="3791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2332" y="139919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Results and Benchmarks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74799" y="2742710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Future Work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2332" y="1399195"/>
            <a:ext cx="1292844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Future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9844" y="3552335"/>
            <a:ext cx="9281912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Preprocess with a source separation model (e.g. Demucs)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The embedding model is language agnostic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Can be finetuned on Bengali specific data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Analyse VBx cluster quality to identify sources of speaker confusion, find where speaker confusion occurs and take according steps 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More Data - creating more labelled datasets and training on them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0800" y="1260031"/>
            <a:ext cx="4783418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165385" y="2713415"/>
            <a:ext cx="9619570" cy="0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Conclusion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69879" y="3817296"/>
            <a:ext cx="10748243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Bangla Diarizz is a modified, finetuned version of Pyannote Community-1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The segmentation model is adapted to Bangla, but the embedding model is language agnostic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19.264% DER, down from 41%, ~56% reduction in inference time 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Bengali ASR achieved a 36.1% WER and 6x faster inference time using greedy decoding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3B3B1C"/>
                </a:solidFill>
                <a:latin typeface="Canva Sans"/>
                <a:ea typeface="Canva Sans"/>
                <a:cs typeface="Canva Sans"/>
                <a:sym typeface="Canva Sans"/>
              </a:rPr>
              <a:t>This is a drop in the ocean in hopes of increasing work for Bangla-specific speech technology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3136423" y="3054719"/>
            <a:ext cx="4762" cy="6080384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141186" y="9135104"/>
            <a:ext cx="11631046" cy="0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4788038" y="3054719"/>
            <a:ext cx="4763" cy="6080384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136423" y="3059482"/>
            <a:ext cx="11651615" cy="0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79518" y="3620566"/>
            <a:ext cx="5128964" cy="116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  <a:spcBef>
                <a:spcPct val="0"/>
              </a:spcBef>
            </a:pPr>
            <a:r>
              <a:rPr lang="en-US" b="true" sz="6835">
                <a:solidFill>
                  <a:srgbClr val="3B3B1C"/>
                </a:solidFill>
                <a:latin typeface="B612 Bold"/>
                <a:ea typeface="B612 Bold"/>
                <a:cs typeface="B612 Bold"/>
                <a:sym typeface="B612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3769566" y="5133975"/>
            <a:ext cx="10748868" cy="4762"/>
          </a:xfrm>
          <a:prstGeom prst="line">
            <a:avLst/>
          </a:prstGeom>
          <a:ln cap="flat" w="9525">
            <a:solidFill>
              <a:srgbClr val="3C4F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402336"/>
            <a:chOff x="0" y="0"/>
            <a:chExt cx="21945600" cy="536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 SPRINT 4.0  ·  BUET CSE FEST 2026 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601200"/>
            <a:ext cx="10972800" cy="698674"/>
            <a:chOff x="0" y="0"/>
            <a:chExt cx="14630400" cy="931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931565"/>
            </a:xfrm>
            <a:custGeom>
              <a:avLst/>
              <a:gdLst/>
              <a:ahLst/>
              <a:cxnLst/>
              <a:rect r="r" b="b" t="t" l="l"/>
              <a:pathLst>
                <a:path h="9315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23" r="0" b="-234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March 6, 2026  ·  Closing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968927" y="5703708"/>
            <a:ext cx="435014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B3B1C">
                    <a:alpha val="69804"/>
                  </a:srgbClr>
                </a:solidFill>
                <a:latin typeface="Kelvinch"/>
                <a:ea typeface="Kelvinch"/>
                <a:cs typeface="Kelvinch"/>
                <a:sym typeface="Kelvinch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DAHC_YxMjD4</dc:identifier>
  <dcterms:modified xsi:type="dcterms:W3CDTF">2011-08-01T06:04:30Z</dcterms:modified>
  <cp:revision>1</cp:revision>
  <dc:title>BUET CSE FEST 2026</dc:title>
</cp:coreProperties>
</file>